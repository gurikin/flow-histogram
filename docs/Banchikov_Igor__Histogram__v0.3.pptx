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0080625" cy="567055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342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3640" y="56160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5151960" y="132624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50364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151960" y="3043800"/>
            <a:ext cx="442620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>
          <a:xfrm>
            <a:off x="3447000" y="516492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>
          <a:xfrm>
            <a:off x="7226640" y="516492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6C30B4D-6A57-4E1B-ABBC-3EB51D7B00D5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>
          <a:xfrm>
            <a:off x="503640" y="516492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3640" y="56160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442620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5151960" y="1326240"/>
            <a:ext cx="442620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3" name="PlaceHolder 4"/>
          <p:cNvSpPr>
            <a:spLocks noGrp="1"/>
          </p:cNvSpPr>
          <p:nvPr>
            <p:ph type="ftr" idx="4"/>
          </p:nvPr>
        </p:nvSpPr>
        <p:spPr>
          <a:xfrm>
            <a:off x="3447000" y="516492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4" name="PlaceHolder 5"/>
          <p:cNvSpPr>
            <a:spLocks noGrp="1"/>
          </p:cNvSpPr>
          <p:nvPr>
            <p:ph type="sldNum" idx="5"/>
          </p:nvPr>
        </p:nvSpPr>
        <p:spPr>
          <a:xfrm>
            <a:off x="7226640" y="516492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7F75278-6E1F-4CF2-A6F7-5239340A0AEE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dt" idx="6"/>
          </p:nvPr>
        </p:nvSpPr>
        <p:spPr>
          <a:xfrm>
            <a:off x="503640" y="516492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3640" y="561600"/>
            <a:ext cx="90709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ftr" idx="7"/>
          </p:nvPr>
        </p:nvSpPr>
        <p:spPr>
          <a:xfrm>
            <a:off x="3447000" y="516492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sldNum" idx="8"/>
          </p:nvPr>
        </p:nvSpPr>
        <p:spPr>
          <a:xfrm>
            <a:off x="7226640" y="516492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E499210-9E52-4288-9616-737365FAFA38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dt" idx="9"/>
          </p:nvPr>
        </p:nvSpPr>
        <p:spPr>
          <a:xfrm>
            <a:off x="503640" y="516492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isk.yandex.ru/i/9Ri_aM3zx-cmfg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Gurikin/flow-histogra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tile tx="0" ty="0" sx="100000" sy="100000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092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Проектная работа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503640" y="1325880"/>
            <a:ext cx="9070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«Библиотека построения гистограмм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на основе потоковых данных»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tile tx="0" ty="0" sx="100000" sy="100000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3640" y="312840"/>
            <a:ext cx="907092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Функциональные требования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ubTitle"/>
          </p:nvPr>
        </p:nvSpPr>
        <p:spPr>
          <a:xfrm>
            <a:off x="503640" y="1157400"/>
            <a:ext cx="9070920" cy="36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Гистограмма должна строиться на основе потока данных (данных поступающих в реальном времени).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Данные поступающие в реальном времени должны быть многомерными.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Границы гистограммы должны варьироваться динамически в зависимости от поступающих данных;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Количество бинов должно определяться статически или задаваться в реальном времени пользователем;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В библиотеке должен присутствовать функционал расчёта и отображения ковариации и среднего.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Прямоугольник: скругленные углы 24"/>
          <p:cNvSpPr/>
          <p:nvPr/>
        </p:nvSpPr>
        <p:spPr>
          <a:xfrm>
            <a:off x="269280" y="359640"/>
            <a:ext cx="9450000" cy="5039640"/>
          </a:xfrm>
          <a:prstGeom prst="roundRect">
            <a:avLst>
              <a:gd name="adj" fmla="val 16667"/>
            </a:avLst>
          </a:prstGeom>
          <a:noFill/>
          <a:ln w="19080">
            <a:solidFill>
              <a:srgbClr val="1E6A39"/>
            </a:solidFill>
            <a:round/>
          </a:ln>
          <a:effectLst>
            <a:glow rad="25560">
              <a:srgbClr val="2A2E2A"/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360" tIns="54360" rIns="99360" bIns="5436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tile tx="0" ty="0" sx="100000" sy="100000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3640" y="312840"/>
            <a:ext cx="907092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Нефункциональные требования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503640" y="1325880"/>
            <a:ext cx="9070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Библиотека должна быть написана я языке kotlin.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Процесс сбора и подготовки данных для гистограммы должен происходить без блокировки процесса построения гистограммы.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Библиотека должна иметь возможность хранить редукцию данных за промежуток времени.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Прямоугольник: скругленные углы 27"/>
          <p:cNvSpPr/>
          <p:nvPr/>
        </p:nvSpPr>
        <p:spPr>
          <a:xfrm>
            <a:off x="269280" y="359640"/>
            <a:ext cx="9450000" cy="5039640"/>
          </a:xfrm>
          <a:prstGeom prst="roundRect">
            <a:avLst>
              <a:gd name="adj" fmla="val 16667"/>
            </a:avLst>
          </a:prstGeom>
          <a:noFill/>
          <a:ln w="19080">
            <a:solidFill>
              <a:srgbClr val="1E6A39"/>
            </a:solidFill>
            <a:round/>
          </a:ln>
          <a:effectLst>
            <a:glow rad="25560">
              <a:srgbClr val="2A2E2A"/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360" tIns="54360" rIns="99360" bIns="5436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tile tx="0" ty="0" sx="100000" sy="100000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3640" y="312840"/>
            <a:ext cx="907092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Опциональные требования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>
          <a:xfrm>
            <a:off x="503640" y="1325880"/>
            <a:ext cx="9070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Визуализация гистограммы при помощи любой GUI библиотеки.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Построение гистограммы в 3d пространстве.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Дополнительно с цветовой палитрой.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Сделать библиотеку универсальной для возможности дальнейшего расширения под произвольные форматы данных.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Прямоугольник: скругленные углы 30"/>
          <p:cNvSpPr/>
          <p:nvPr/>
        </p:nvSpPr>
        <p:spPr>
          <a:xfrm>
            <a:off x="269280" y="359640"/>
            <a:ext cx="9450000" cy="5039640"/>
          </a:xfrm>
          <a:prstGeom prst="roundRect">
            <a:avLst>
              <a:gd name="adj" fmla="val 16667"/>
            </a:avLst>
          </a:prstGeom>
          <a:noFill/>
          <a:ln w="19080">
            <a:solidFill>
              <a:srgbClr val="1E6A39"/>
            </a:solidFill>
            <a:round/>
          </a:ln>
          <a:effectLst>
            <a:glow rad="25560">
              <a:srgbClr val="2A2E2A"/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360" tIns="54360" rIns="99360" bIns="5436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tile tx="0" ty="0" sx="100000" sy="100000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3640" y="312840"/>
            <a:ext cx="907092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Определение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ubTitle"/>
          </p:nvPr>
        </p:nvSpPr>
        <p:spPr>
          <a:xfrm>
            <a:off x="467640" y="1324800"/>
            <a:ext cx="9070920" cy="263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Гистограмма</a:t>
            </a: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 — это непараметрическая оценка функции плотности вероятности (Probability Density Function, PDF) непрерывной случайной величины по конечной выборке. Это аппроксимация, строящаяся путем группировки данных в интервалы (бины, англ. bins) и нормировки частоты попаданий в каждый интервал на его ширину и объем выборки.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Прямоугольник: скругленные углы 33"/>
          <p:cNvSpPr/>
          <p:nvPr/>
        </p:nvSpPr>
        <p:spPr>
          <a:xfrm>
            <a:off x="269280" y="359640"/>
            <a:ext cx="9450000" cy="5039640"/>
          </a:xfrm>
          <a:prstGeom prst="roundRect">
            <a:avLst>
              <a:gd name="adj" fmla="val 16667"/>
            </a:avLst>
          </a:prstGeom>
          <a:noFill/>
          <a:ln w="19080">
            <a:solidFill>
              <a:srgbClr val="1E6A39"/>
            </a:solidFill>
            <a:round/>
          </a:ln>
          <a:effectLst>
            <a:glow rad="25560">
              <a:srgbClr val="2A2E2A"/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360" tIns="54360" rIns="99360" bIns="5436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" name="Прямоугольник: скругленные углы 34"/>
          <p:cNvSpPr/>
          <p:nvPr/>
        </p:nvSpPr>
        <p:spPr>
          <a:xfrm>
            <a:off x="1079640" y="3959640"/>
            <a:ext cx="7739640" cy="1169640"/>
          </a:xfrm>
          <a:prstGeom prst="roundRect">
            <a:avLst>
              <a:gd name="adj" fmla="val 16667"/>
            </a:avLst>
          </a:prstGeom>
          <a:blipFill rotWithShape="0">
            <a:blip r:embed="rId3">
              <a:alphaModFix amt="65000"/>
            </a:blip>
            <a:srcRect/>
            <a:tile tx="0" ty="0" sx="100000" sy="100000" algn="ctr"/>
          </a:blipFill>
          <a:ln w="29160">
            <a:solidFill>
              <a:srgbClr val="1E6A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4400" tIns="59400" rIns="104400" bIns="594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2000" b="1" u="none" strike="noStrike">
                <a:solidFill>
                  <a:srgbClr val="FFFFFF"/>
                </a:solidFill>
                <a:effectLst/>
                <a:uFillTx/>
                <a:latin typeface="Nimbus Mono PS"/>
                <a:ea typeface="DejaVu Sans"/>
              </a:rPr>
              <a:t>!Важно</a:t>
            </a: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imbus Mono PS"/>
                <a:ea typeface="DejaVu Sans"/>
              </a:rPr>
              <a:t> — гистограмма отображает распределение </a:t>
            </a:r>
            <a:r>
              <a:rPr lang="ru-RU" sz="2000" b="1" u="none" strike="noStrike">
                <a:solidFill>
                  <a:srgbClr val="FFFFFF"/>
                </a:solidFill>
                <a:effectLst/>
                <a:uFillTx/>
                <a:latin typeface="Nimbus Mono PS"/>
                <a:ea typeface="DejaVu Sans"/>
              </a:rPr>
              <a:t>непрерывных </a:t>
            </a: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imbus Mono PS"/>
                <a:ea typeface="DejaVu Sans"/>
              </a:rPr>
              <a:t>данных, а не количественные метрики для </a:t>
            </a:r>
            <a:r>
              <a:rPr lang="ru-RU" sz="2000" b="1" u="none" strike="noStrike">
                <a:solidFill>
                  <a:srgbClr val="FFFFFF"/>
                </a:solidFill>
                <a:effectLst/>
                <a:uFillTx/>
                <a:latin typeface="Nimbus Mono PS"/>
                <a:ea typeface="DejaVu Sans"/>
              </a:rPr>
              <a:t>категориальных </a:t>
            </a: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imbus Mono PS"/>
                <a:ea typeface="DejaVu Sans"/>
              </a:rPr>
              <a:t>данных.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tile tx="0" ty="0" sx="100000" sy="100000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7092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Решаемые в работе проблемы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Прямоугольник: скругленные углы 36"/>
          <p:cNvSpPr/>
          <p:nvPr/>
        </p:nvSpPr>
        <p:spPr>
          <a:xfrm>
            <a:off x="269280" y="359640"/>
            <a:ext cx="9450000" cy="5039640"/>
          </a:xfrm>
          <a:prstGeom prst="roundRect">
            <a:avLst>
              <a:gd name="adj" fmla="val 16667"/>
            </a:avLst>
          </a:prstGeom>
          <a:noFill/>
          <a:ln w="19080">
            <a:solidFill>
              <a:srgbClr val="1E6A39"/>
            </a:solidFill>
            <a:round/>
          </a:ln>
          <a:effectLst>
            <a:glow rad="25560">
              <a:srgbClr val="2A2E2A"/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360" tIns="54360" rIns="99360" bIns="5436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3280" y="1326240"/>
            <a:ext cx="4426560" cy="3287880"/>
          </a:xfrm>
          <a:prstGeom prst="rect">
            <a:avLst/>
          </a:prstGeom>
          <a:noFill/>
          <a:ln w="38160">
            <a:solidFill>
              <a:srgbClr val="1E6A39"/>
            </a:solidFill>
            <a:prstDash val="lgDash"/>
            <a:round/>
          </a:ln>
        </p:spPr>
        <p:txBody>
          <a:bodyPr lIns="19080" tIns="19080" rIns="19080" bIns="19080" anchor="ctr" anchorCtr="1">
            <a:norm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Проблема дискретности</a:t>
            </a:r>
            <a:br>
              <a:rPr sz="2000"/>
            </a:b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данных</a:t>
            </a:r>
            <a:br>
              <a:rPr sz="2000"/>
            </a:br>
            <a:br>
              <a:rPr sz="2000"/>
            </a:b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Потоковые данные могут оказаться дискретными, что затруднит расчёт функции плотности вероятности и построение гистограммы.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152320" y="1326240"/>
            <a:ext cx="4426560" cy="3287880"/>
          </a:xfrm>
          <a:prstGeom prst="rect">
            <a:avLst/>
          </a:prstGeom>
          <a:noFill/>
          <a:ln w="38160">
            <a:solidFill>
              <a:srgbClr val="1E6A39"/>
            </a:solidFill>
            <a:prstDash val="lgDash"/>
            <a:round/>
          </a:ln>
        </p:spPr>
        <p:txBody>
          <a:bodyPr lIns="19080" tIns="19080" rIns="19080" bIns="19080" anchor="ctr" anchorCtr="1">
            <a:norm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Проблема оптимального разбиения гистограммы</a:t>
            </a:r>
            <a:br>
              <a:rPr sz="2000"/>
            </a:br>
            <a:br>
              <a:rPr sz="2000"/>
            </a:b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Проблему оптимального разбиения гистограммы в области отсутствия границ данных и возможной дискретности данных мы рассмотрим отдельно.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tile tx="0" ty="0" sx="100000" sy="100000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84200" y="270720"/>
            <a:ext cx="907092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Предлагаемое решение</a:t>
            </a: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Полилиния: фигура 40"/>
          <p:cNvSpPr/>
          <p:nvPr/>
        </p:nvSpPr>
        <p:spPr>
          <a:xfrm>
            <a:off x="359280" y="1483200"/>
            <a:ext cx="1439640" cy="900000"/>
          </a:xfrm>
          <a:custGeom>
            <a:avLst/>
            <a:gdLst>
              <a:gd name="textAreaLeft" fmla="*/ 199800 w 1439640"/>
              <a:gd name="textAreaRight" fmla="*/ 1140840 w 1439640"/>
              <a:gd name="textAreaTop" fmla="*/ 138240 h 900000"/>
              <a:gd name="textAreaBottom" fmla="*/ 722520 h 90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w="21600" h="21600" fill="none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w="21600" h="21600" fill="none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w="21600" h="21600" fill="none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w="21600" h="21600" fill="none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w="21600" h="21600" fill="none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w="21600" h="21600" fill="none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w="21600" h="21600" fill="none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w="21600" h="21600" fill="none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w="21600" h="21600" fill="none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w="21600" h="21600" fill="none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w="21600" h="21600" fill="none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blipFill rotWithShape="0">
            <a:blip r:embed="rId3"/>
            <a:srcRect/>
            <a:tile tx="0" ty="0" sx="100000" sy="100000" algn="ctr"/>
          </a:blipFill>
          <a:ln w="38160">
            <a:solidFill>
              <a:srgbClr val="1E6A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080" tIns="64080" rIns="109080" bIns="6408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Nimbus Mono PS"/>
                <a:ea typeface="DejaVu Sans"/>
              </a:rPr>
              <a:t>Source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" name="Прямая со стрелкой 41"/>
          <p:cNvCxnSpPr>
            <a:stCxn id="41" idx="3"/>
            <a:endCxn id="43" idx="1"/>
          </p:cNvCxnSpPr>
          <p:nvPr/>
        </p:nvCxnSpPr>
        <p:spPr>
          <a:xfrm>
            <a:off x="1798920" y="1933200"/>
            <a:ext cx="1647000" cy="720"/>
          </a:xfrm>
          <a:prstGeom prst="straightConnector1">
            <a:avLst/>
          </a:prstGeom>
          <a:ln w="38160">
            <a:solidFill>
              <a:srgbClr val="1E6A39"/>
            </a:solidFill>
            <a:round/>
            <a:tailEnd type="triangle" w="med" len="med"/>
          </a:ln>
        </p:spPr>
      </p:cxnSp>
      <p:sp>
        <p:nvSpPr>
          <p:cNvPr id="43" name="Прямоугольник: скругленные углы 42"/>
          <p:cNvSpPr/>
          <p:nvPr/>
        </p:nvSpPr>
        <p:spPr>
          <a:xfrm>
            <a:off x="3445560" y="1440000"/>
            <a:ext cx="3554280" cy="987120"/>
          </a:xfrm>
          <a:prstGeom prst="roundRect">
            <a:avLst>
              <a:gd name="adj" fmla="val 16667"/>
            </a:avLst>
          </a:prstGeom>
          <a:blipFill rotWithShape="0">
            <a:blip r:embed="rId3"/>
            <a:srcRect/>
            <a:tile tx="0" ty="0" sx="100000" sy="100000" algn="ctr"/>
          </a:blipFill>
          <a:ln w="38160">
            <a:solidFill>
              <a:srgbClr val="1E6A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080" tIns="64080" rIns="109080" bIns="6408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Nimbus Mono PS"/>
                <a:ea typeface="DejaVu Sans"/>
              </a:rPr>
              <a:t>Распределяем данные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Nimbus Mono PS"/>
                <a:ea typeface="DejaVu Sans"/>
              </a:rPr>
              <a:t>по чанкам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Nimbus Mono PS"/>
                <a:ea typeface="DejaVu Sans"/>
              </a:rPr>
              <a:t>(гистограммам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Nimbus Mono PS"/>
                <a:ea typeface="DejaVu Sans"/>
              </a:rPr>
              <a:t>константного размера)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" name="Соединитель: уступ 43"/>
          <p:cNvCxnSpPr>
            <a:stCxn id="43" idx="3"/>
            <a:endCxn id="45" idx="4"/>
          </p:cNvCxnSpPr>
          <p:nvPr/>
        </p:nvCxnSpPr>
        <p:spPr>
          <a:xfrm>
            <a:off x="6999840" y="1933560"/>
            <a:ext cx="1819080" cy="2296800"/>
          </a:xfrm>
          <a:prstGeom prst="bentConnector3">
            <a:avLst>
              <a:gd name="adj1" fmla="val 139627"/>
            </a:avLst>
          </a:prstGeom>
          <a:ln w="38160">
            <a:solidFill>
              <a:srgbClr val="1E6A39"/>
            </a:solidFill>
            <a:round/>
            <a:tailEnd type="triangle" w="med" len="med"/>
          </a:ln>
        </p:spPr>
      </p:cxnSp>
      <p:sp>
        <p:nvSpPr>
          <p:cNvPr id="45" name="Цилиндр 44"/>
          <p:cNvSpPr/>
          <p:nvPr/>
        </p:nvSpPr>
        <p:spPr>
          <a:xfrm>
            <a:off x="7739280" y="3690360"/>
            <a:ext cx="1079280" cy="1079280"/>
          </a:xfrm>
          <a:prstGeom prst="can">
            <a:avLst>
              <a:gd name="adj" fmla="val 25000"/>
            </a:avLst>
          </a:prstGeom>
          <a:blipFill rotWithShape="0">
            <a:blip r:embed="rId3"/>
            <a:srcRect/>
            <a:tile tx="0" ty="0" sx="100000" sy="100000" algn="ctr"/>
          </a:blipFill>
          <a:ln w="38160">
            <a:solidFill>
              <a:srgbClr val="1E6A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080" tIns="64080" rIns="109080" bIns="6408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200" b="0" u="none" strike="noStrike">
                <a:solidFill>
                  <a:srgbClr val="FFFFFF"/>
                </a:solidFill>
                <a:effectLst/>
                <a:uFillTx/>
                <a:latin typeface="Nimbus Mono PS"/>
                <a:ea typeface="DejaVu Sans"/>
              </a:rPr>
              <a:t>Storage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u-RU" sz="1200" b="0" u="none" strike="noStrike">
                <a:solidFill>
                  <a:srgbClr val="FFFFFF"/>
                </a:solidFill>
                <a:effectLst/>
                <a:uFillTx/>
                <a:latin typeface="Nimbus Mono PS"/>
                <a:ea typeface="DejaVu Sans"/>
              </a:rPr>
              <a:t>(mem, redis)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Прямоугольник: скругленные углы 45"/>
          <p:cNvSpPr/>
          <p:nvPr/>
        </p:nvSpPr>
        <p:spPr>
          <a:xfrm>
            <a:off x="371160" y="3599640"/>
            <a:ext cx="3914640" cy="1259640"/>
          </a:xfrm>
          <a:prstGeom prst="roundRect">
            <a:avLst>
              <a:gd name="adj" fmla="val 16667"/>
            </a:avLst>
          </a:prstGeom>
          <a:blipFill rotWithShape="0">
            <a:blip r:embed="rId3"/>
            <a:srcRect/>
            <a:tile tx="0" ty="0" sx="100000" sy="100000" algn="ctr"/>
          </a:blipFill>
          <a:ln w="38160">
            <a:solidFill>
              <a:srgbClr val="1E6A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9080" tIns="64080" rIns="109080" bIns="6408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Nimbus Mono PS"/>
                <a:ea typeface="DejaVu Sans"/>
              </a:rPr>
              <a:t>Собираем данные из storage и строим общую гистограмму на основании агрегированнных данных (коллекции чанков)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7" name="Соединитель: уступ 46"/>
          <p:cNvCxnSpPr>
            <a:stCxn id="43" idx="2"/>
            <a:endCxn id="46" idx="0"/>
          </p:cNvCxnSpPr>
          <p:nvPr/>
        </p:nvCxnSpPr>
        <p:spPr>
          <a:xfrm rot="5400000">
            <a:off x="3189240" y="1566000"/>
            <a:ext cx="1172880" cy="2894760"/>
          </a:xfrm>
          <a:prstGeom prst="bentConnector3">
            <a:avLst>
              <a:gd name="adj1" fmla="val 23272"/>
            </a:avLst>
          </a:prstGeom>
          <a:ln w="38160">
            <a:solidFill>
              <a:srgbClr val="1E6A39"/>
            </a:solidFill>
            <a:round/>
            <a:tailEnd type="triangle" w="med" len="med"/>
          </a:ln>
        </p:spPr>
      </p:cxnSp>
      <p:cxnSp>
        <p:nvCxnSpPr>
          <p:cNvPr id="48" name="Прямая со стрелкой 47"/>
          <p:cNvCxnSpPr>
            <a:stCxn id="46" idx="3"/>
            <a:endCxn id="45" idx="2"/>
          </p:cNvCxnSpPr>
          <p:nvPr/>
        </p:nvCxnSpPr>
        <p:spPr>
          <a:xfrm>
            <a:off x="4285800" y="4229640"/>
            <a:ext cx="3453840" cy="720"/>
          </a:xfrm>
          <a:prstGeom prst="straightConnector1">
            <a:avLst/>
          </a:prstGeom>
          <a:ln w="38160">
            <a:solidFill>
              <a:srgbClr val="1E6A39"/>
            </a:solidFill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tile tx="0" ty="0" sx="100000" sy="100000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Прямоугольник: скругленные углы 48"/>
          <p:cNvSpPr/>
          <p:nvPr/>
        </p:nvSpPr>
        <p:spPr>
          <a:xfrm>
            <a:off x="269280" y="359640"/>
            <a:ext cx="9450000" cy="5039640"/>
          </a:xfrm>
          <a:prstGeom prst="roundRect">
            <a:avLst>
              <a:gd name="adj" fmla="val 16667"/>
            </a:avLst>
          </a:prstGeom>
          <a:noFill/>
          <a:ln w="19080">
            <a:solidFill>
              <a:srgbClr val="1E6A39"/>
            </a:solidFill>
            <a:round/>
          </a:ln>
          <a:effectLst>
            <a:glow rad="25560">
              <a:srgbClr val="2A2E2A"/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360" tIns="54360" rIns="99360" bIns="5436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67640" y="359280"/>
            <a:ext cx="907092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Алгоритм построения чанка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Прямоугольник 50"/>
          <p:cNvSpPr/>
          <p:nvPr/>
        </p:nvSpPr>
        <p:spPr>
          <a:xfrm>
            <a:off x="468720" y="1476000"/>
            <a:ext cx="9070920" cy="370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Из потока данных получаем "точку" (изолированную область данных)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Определяем chunk для записи точки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Если подходящей области не обнаружено, то создаем её. Создание области необходимо будет осуществлять вокруг точки согласно принятой константе.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1400" b="1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Пример: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Получаем точку [1,1,2]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Определяем, есть ли уже область подходящая для точки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Если точка есть, то добавляем её к гистограмме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Если точки нет, то создаем область размером 10х10х10 с координатами P</a:t>
            </a:r>
            <a:r>
              <a:rPr lang="ru-RU" sz="1400" b="0" u="none" strike="noStrike" baseline="-8000">
                <a:solidFill>
                  <a:srgbClr val="000000"/>
                </a:solidFill>
                <a:effectLst/>
                <a:uFillTx/>
                <a:latin typeface="Nimbus Mono PS"/>
              </a:rPr>
              <a:t>min</a:t>
            </a: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(0,0,0), P</a:t>
            </a:r>
            <a:r>
              <a:rPr lang="ru-RU" sz="1400" b="0" u="none" strike="noStrike" baseline="-8000">
                <a:solidFill>
                  <a:srgbClr val="000000"/>
                </a:solidFill>
                <a:effectLst/>
                <a:uFillTx/>
                <a:latin typeface="Nimbus Mono PS"/>
              </a:rPr>
              <a:t>max</a:t>
            </a: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(10,10,10). Количество бинов определяется статически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Добавляем точку к нужному бину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После достижения чанком определённого размера, сохраняем построенную гистограмму в storage и отправляем событие в сервис построения общей гистограммы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tile tx="0" ty="0" sx="100000" sy="100000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Прямоугольник: скругленные углы 51"/>
          <p:cNvSpPr/>
          <p:nvPr/>
        </p:nvSpPr>
        <p:spPr>
          <a:xfrm>
            <a:off x="269280" y="359640"/>
            <a:ext cx="9450000" cy="5039640"/>
          </a:xfrm>
          <a:prstGeom prst="roundRect">
            <a:avLst>
              <a:gd name="adj" fmla="val 16667"/>
            </a:avLst>
          </a:prstGeom>
          <a:noFill/>
          <a:ln w="19080">
            <a:solidFill>
              <a:srgbClr val="1E6A39"/>
            </a:solidFill>
            <a:round/>
          </a:ln>
          <a:effectLst>
            <a:glow rad="25560">
              <a:srgbClr val="2A2E2A"/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360" tIns="54360" rIns="99360" bIns="5436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67640" y="359280"/>
            <a:ext cx="907092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Алгоритм построения гистограммы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Прямоугольник 53"/>
          <p:cNvSpPr/>
          <p:nvPr/>
        </p:nvSpPr>
        <p:spPr>
          <a:xfrm>
            <a:off x="468720" y="1260000"/>
            <a:ext cx="9070920" cy="413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Создаем область для гистограммы. Определяется статически, например как для периода просмотра котировок акций. Это может происходить по запросу пользователя или статически на этапе MVP.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Получаем событие о сохранении чанка в </a:t>
            </a: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storage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Идём в storage за данными на основании полученного события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Распределяем данные из полученного чанка по бинам гистограммы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Если какой-то бин чанка попадает на границу бина гистограммы, то данные из него делятся пропорционально (уходят в какой-либо из бинов на этапе MVP).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tile tx="0" ty="0" sx="100000" sy="100000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Прямоугольник: скругленные углы 54"/>
          <p:cNvSpPr/>
          <p:nvPr/>
        </p:nvSpPr>
        <p:spPr>
          <a:xfrm>
            <a:off x="269280" y="359640"/>
            <a:ext cx="9450000" cy="5039640"/>
          </a:xfrm>
          <a:prstGeom prst="roundRect">
            <a:avLst>
              <a:gd name="adj" fmla="val 16667"/>
            </a:avLst>
          </a:prstGeom>
          <a:noFill/>
          <a:ln w="19080">
            <a:solidFill>
              <a:srgbClr val="1E6A39"/>
            </a:solidFill>
            <a:round/>
          </a:ln>
          <a:effectLst>
            <a:glow rad="25560">
              <a:srgbClr val="2A2E2A"/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360" tIns="54360" rIns="99360" bIns="5436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67640" y="359280"/>
            <a:ext cx="907092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Алгоритм определения</a:t>
            </a:r>
            <a:br>
              <a:rPr sz="3200"/>
            </a:br>
            <a:r>
              <a:rPr lang="ru-RU" sz="3200" b="1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количества бинов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Прямоугольник 56"/>
          <p:cNvSpPr/>
          <p:nvPr/>
        </p:nvSpPr>
        <p:spPr>
          <a:xfrm>
            <a:off x="468720" y="1260000"/>
            <a:ext cx="9070920" cy="395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Т.к. мы не можем угадать границы потоковых данных, то предлагается выбирать количество бинов по формуле Стёрджеса.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Количество интервалов n определяется как: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n = 1 + log</a:t>
            </a:r>
            <a:r>
              <a:rPr lang="ru-RU" sz="1800" b="0" u="none" strike="noStrike" baseline="-8000">
                <a:solidFill>
                  <a:srgbClr val="000000"/>
                </a:solidFill>
                <a:effectLst/>
                <a:uFillTx/>
                <a:latin typeface="Nimbus Mono PS"/>
              </a:rPr>
              <a:t>2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(N)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eriod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Но, т.к. при потоковых данных мы не знаем N на момент построения гистограммы, то предлагается взять за N границы значений гистограммы.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tile tx="0" ty="0" sx="100000" sy="100000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Прямоугольник: скругленные углы 57"/>
          <p:cNvSpPr/>
          <p:nvPr/>
        </p:nvSpPr>
        <p:spPr>
          <a:xfrm>
            <a:off x="269280" y="359640"/>
            <a:ext cx="9450000" cy="5039640"/>
          </a:xfrm>
          <a:prstGeom prst="roundRect">
            <a:avLst>
              <a:gd name="adj" fmla="val 16667"/>
            </a:avLst>
          </a:prstGeom>
          <a:noFill/>
          <a:ln w="19080">
            <a:solidFill>
              <a:srgbClr val="1E6A39"/>
            </a:solidFill>
            <a:round/>
          </a:ln>
          <a:effectLst>
            <a:glow rad="25560">
              <a:srgbClr val="2A2E2A"/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360" tIns="54360" rIns="99360" bIns="5436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67640" y="359280"/>
            <a:ext cx="907092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ru-RU" sz="3200" b="1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Анализ исходников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Прямоугольник 59"/>
          <p:cNvSpPr/>
          <p:nvPr/>
        </p:nvSpPr>
        <p:spPr>
          <a:xfrm>
            <a:off x="468720" y="1260000"/>
            <a:ext cx="9070920" cy="337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В ходе проведения работы были проанализированы 3 библиотеки для построения гистограмм. А именно: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Cern.root (c++)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Numpy (python)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Plotters (rust)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Для каждой был проведён небольшой нагрузочный тест.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Nimbus Mono PS"/>
              </a:rPr>
              <a:t>По результатам анализа было принято решение использовать для непосредственно построения объекта гистограммы ориентироваться на алгоритмы cern.root, т.к. они наиболее приближены к условиям обозначенным в алгоритмах ранее, а также показали наиболее стабильный и быстрый вариант построения объекта гистограммы.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tile tx="0" ty="0" sx="100000" sy="100000" algn="ctr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22EEDF-EFBF-D67B-AACD-8E111C4BF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Прямоугольник: скругленные углы 57">
            <a:extLst>
              <a:ext uri="{FF2B5EF4-FFF2-40B4-BE49-F238E27FC236}">
                <a16:creationId xmlns:a16="http://schemas.microsoft.com/office/drawing/2014/main" id="{F4E6C11C-F9F9-58E9-6B41-039EE65164EE}"/>
              </a:ext>
            </a:extLst>
          </p:cNvPr>
          <p:cNvSpPr/>
          <p:nvPr/>
        </p:nvSpPr>
        <p:spPr>
          <a:xfrm>
            <a:off x="269280" y="359640"/>
            <a:ext cx="9450000" cy="5039640"/>
          </a:xfrm>
          <a:prstGeom prst="roundRect">
            <a:avLst>
              <a:gd name="adj" fmla="val 16667"/>
            </a:avLst>
          </a:prstGeom>
          <a:noFill/>
          <a:ln w="19080">
            <a:solidFill>
              <a:srgbClr val="1E6A39"/>
            </a:solidFill>
            <a:round/>
          </a:ln>
          <a:effectLst>
            <a:glow rad="25560">
              <a:srgbClr val="2A2E2A"/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360" tIns="54360" rIns="99360" bIns="5436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9" name="PlaceHolder 1">
            <a:extLst>
              <a:ext uri="{FF2B5EF4-FFF2-40B4-BE49-F238E27FC236}">
                <a16:creationId xmlns:a16="http://schemas.microsoft.com/office/drawing/2014/main" id="{0F632320-09DE-FE56-0F2E-695242FC4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640" y="586459"/>
            <a:ext cx="9070920" cy="4924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3200" b="1" dirty="0">
                <a:solidFill>
                  <a:srgbClr val="000000"/>
                </a:solidFill>
                <a:latin typeface="Nimbus Mono PS"/>
              </a:rPr>
              <a:t>Замечания с первой презентации</a:t>
            </a:r>
            <a:endParaRPr lang="ru-RU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84DECD68-70D5-6067-2132-7C63490F2040}"/>
              </a:ext>
            </a:extLst>
          </p:cNvPr>
          <p:cNvSpPr/>
          <p:nvPr/>
        </p:nvSpPr>
        <p:spPr>
          <a:xfrm>
            <a:off x="468720" y="1260000"/>
            <a:ext cx="9070920" cy="9848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dirty="0">
                <a:solidFill>
                  <a:srgbClr val="000000"/>
                </a:solidFill>
                <a:latin typeface="Nimbus Mono PS"/>
              </a:rPr>
              <a:t>Определять количество </a:t>
            </a:r>
            <a:r>
              <a:rPr lang="ru-RU" dirty="0" err="1">
                <a:solidFill>
                  <a:srgbClr val="000000"/>
                </a:solidFill>
                <a:latin typeface="Nimbus Mono PS"/>
              </a:rPr>
              <a:t>чанков</a:t>
            </a:r>
            <a:r>
              <a:rPr lang="ru-RU" dirty="0">
                <a:solidFill>
                  <a:srgbClr val="000000"/>
                </a:solidFill>
                <a:latin typeface="Nimbus Mono PS"/>
              </a:rPr>
              <a:t> на основании границы общей</a:t>
            </a: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dirty="0">
                <a:solidFill>
                  <a:srgbClr val="000000"/>
                </a:solidFill>
                <a:latin typeface="Nimbus Mono PS"/>
              </a:rPr>
              <a:t>гистограммы, определённой клиентом (пользователем).</a:t>
            </a: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dirty="0">
                <a:solidFill>
                  <a:srgbClr val="000000"/>
                </a:solidFill>
                <a:latin typeface="Nimbus Mono PS"/>
              </a:rPr>
              <a:t>Подумать о различной размерности данных.</a:t>
            </a:r>
            <a:endParaRPr lang="ru-RU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1838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tile tx="0" ty="0" sx="100000" sy="100000" algn="ctr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A08676-1B15-AF72-AF43-488F834D2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Прямоугольник: скругленные углы 57">
            <a:extLst>
              <a:ext uri="{FF2B5EF4-FFF2-40B4-BE49-F238E27FC236}">
                <a16:creationId xmlns:a16="http://schemas.microsoft.com/office/drawing/2014/main" id="{51869FFA-88C4-7488-A735-A6A4628EA110}"/>
              </a:ext>
            </a:extLst>
          </p:cNvPr>
          <p:cNvSpPr/>
          <p:nvPr/>
        </p:nvSpPr>
        <p:spPr>
          <a:xfrm>
            <a:off x="269280" y="359640"/>
            <a:ext cx="9450000" cy="5039640"/>
          </a:xfrm>
          <a:prstGeom prst="roundRect">
            <a:avLst>
              <a:gd name="adj" fmla="val 16667"/>
            </a:avLst>
          </a:prstGeom>
          <a:noFill/>
          <a:ln w="19080">
            <a:solidFill>
              <a:srgbClr val="1E6A39"/>
            </a:solidFill>
            <a:round/>
          </a:ln>
          <a:effectLst>
            <a:glow rad="25560">
              <a:srgbClr val="2A2E2A"/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360" tIns="54360" rIns="99360" bIns="5436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9" name="PlaceHolder 1">
            <a:extLst>
              <a:ext uri="{FF2B5EF4-FFF2-40B4-BE49-F238E27FC236}">
                <a16:creationId xmlns:a16="http://schemas.microsoft.com/office/drawing/2014/main" id="{0AE17C94-52F2-2E4A-4E84-1D3C0B5A9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640" y="586459"/>
            <a:ext cx="9070920" cy="4924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3200" b="1" dirty="0">
                <a:solidFill>
                  <a:srgbClr val="000000"/>
                </a:solidFill>
                <a:latin typeface="Nimbus Mono PS"/>
              </a:rPr>
              <a:t>Результаты промежуточного этапа</a:t>
            </a:r>
            <a:endParaRPr lang="ru-RU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3CD4D6ED-9ECA-9E24-6C0F-327A4B7A7116}"/>
              </a:ext>
            </a:extLst>
          </p:cNvPr>
          <p:cNvSpPr/>
          <p:nvPr/>
        </p:nvSpPr>
        <p:spPr>
          <a:xfrm>
            <a:off x="468720" y="1260000"/>
            <a:ext cx="9070920" cy="3724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1400" dirty="0">
                <a:solidFill>
                  <a:srgbClr val="000000"/>
                </a:solidFill>
                <a:latin typeface="Nimbus Mono PS"/>
              </a:rPr>
              <a:t>1. Сделан функционал для демонстрации работы </a:t>
            </a:r>
            <a:r>
              <a:rPr lang="ru-RU" sz="1400" dirty="0" err="1">
                <a:solidFill>
                  <a:srgbClr val="000000"/>
                </a:solidFill>
                <a:latin typeface="Nimbus Mono PS"/>
              </a:rPr>
              <a:t>гистограмматора</a:t>
            </a:r>
            <a:endParaRPr lang="ru-RU" sz="1400" dirty="0">
              <a:solidFill>
                <a:srgbClr val="000000"/>
              </a:solidFill>
              <a:latin typeface="Nimbus Mono PS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1400" dirty="0">
                <a:solidFill>
                  <a:srgbClr val="000000"/>
                </a:solidFill>
                <a:latin typeface="Nimbus Mono PS"/>
              </a:rPr>
              <a:t>потоковых данных для одномерной целочисленной гистограммы.</a:t>
            </a: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1400" dirty="0">
                <a:solidFill>
                  <a:srgbClr val="000000"/>
                </a:solidFill>
                <a:latin typeface="Nimbus Mono PS"/>
              </a:rPr>
              <a:t>1. Разработана система интерфейсов</a:t>
            </a: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1400" dirty="0">
                <a:solidFill>
                  <a:srgbClr val="000000"/>
                </a:solidFill>
                <a:latin typeface="Nimbus Mono PS"/>
              </a:rPr>
              <a:t>2. Созданы дефолтные реализации данных интерфейсов</a:t>
            </a: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1400" dirty="0">
                <a:solidFill>
                  <a:srgbClr val="000000"/>
                </a:solidFill>
                <a:latin typeface="Nimbus Mono PS"/>
              </a:rPr>
              <a:t>3. Для генератора потоковых данных и для конфигуратора гистограммы</a:t>
            </a: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1400" dirty="0">
                <a:solidFill>
                  <a:srgbClr val="000000"/>
                </a:solidFill>
                <a:latin typeface="Nimbus Mono PS"/>
              </a:rPr>
              <a:t>сделаны реализации для целочисленных значений</a:t>
            </a: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1400" dirty="0">
                <a:solidFill>
                  <a:srgbClr val="000000"/>
                </a:solidFill>
                <a:latin typeface="Nimbus Mono PS"/>
              </a:rPr>
              <a:t>2. Сделано десктопное приложение для </a:t>
            </a:r>
            <a:r>
              <a:rPr lang="ru-RU" sz="1400" dirty="0" err="1">
                <a:solidFill>
                  <a:srgbClr val="000000"/>
                </a:solidFill>
                <a:latin typeface="Nimbus Mono PS"/>
              </a:rPr>
              <a:t>демонстраци</a:t>
            </a:r>
            <a:r>
              <a:rPr lang="ru-RU" sz="1400" dirty="0">
                <a:solidFill>
                  <a:srgbClr val="000000"/>
                </a:solidFill>
                <a:latin typeface="Nimbus Mono PS"/>
              </a:rPr>
              <a:t> распределения весов</a:t>
            </a: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1400" dirty="0">
                <a:solidFill>
                  <a:srgbClr val="000000"/>
                </a:solidFill>
                <a:latin typeface="Nimbus Mono PS"/>
              </a:rPr>
              <a:t>по </a:t>
            </a:r>
            <a:r>
              <a:rPr lang="ru-RU" sz="1400" dirty="0" err="1">
                <a:solidFill>
                  <a:srgbClr val="000000"/>
                </a:solidFill>
                <a:latin typeface="Nimbus Mono PS"/>
              </a:rPr>
              <a:t>бинам</a:t>
            </a:r>
            <a:r>
              <a:rPr lang="ru-RU" sz="1400" dirty="0">
                <a:solidFill>
                  <a:srgbClr val="000000"/>
                </a:solidFill>
                <a:latin typeface="Nimbus Mono PS"/>
              </a:rPr>
              <a:t> в общей гистограмме.</a:t>
            </a: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1400" dirty="0">
                <a:solidFill>
                  <a:srgbClr val="000000"/>
                </a:solidFill>
                <a:latin typeface="Nimbus Mono PS"/>
              </a:rPr>
              <a:t>3. Записано демонстрационное видео, которое можно скачать по ссылке:</a:t>
            </a: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1400" dirty="0">
                <a:solidFill>
                  <a:srgbClr val="000000"/>
                </a:solidFill>
                <a:latin typeface="Nimbus Mono PS"/>
              </a:rPr>
              <a:t>https://disk.yandex.ru/i/9Ri_aM3zx-cmfg (144МБ)</a:t>
            </a: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1400" dirty="0">
                <a:solidFill>
                  <a:srgbClr val="000000"/>
                </a:solidFill>
                <a:latin typeface="Nimbus Mono PS"/>
              </a:rPr>
              <a:t>4. Код выложен на </a:t>
            </a:r>
            <a:r>
              <a:rPr lang="ru-RU" sz="1400" dirty="0" err="1">
                <a:solidFill>
                  <a:srgbClr val="000000"/>
                </a:solidFill>
                <a:latin typeface="Nimbus Mono PS"/>
              </a:rPr>
              <a:t>github</a:t>
            </a:r>
            <a:r>
              <a:rPr lang="ru-RU" sz="1400" dirty="0">
                <a:solidFill>
                  <a:srgbClr val="000000"/>
                </a:solidFill>
                <a:latin typeface="Nimbus Mono PS"/>
              </a:rPr>
              <a:t>. С ним можно ознакомиться по ссылке:</a:t>
            </a: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1400" dirty="0">
                <a:solidFill>
                  <a:srgbClr val="000000"/>
                </a:solidFill>
                <a:latin typeface="Nimbus Mono PS"/>
              </a:rPr>
              <a:t>https://github.com/Gurikin/flow-histogram</a:t>
            </a: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</a:pPr>
            <a:r>
              <a:rPr lang="ru-RU" sz="1400" dirty="0">
                <a:solidFill>
                  <a:srgbClr val="000000"/>
                </a:solidFill>
                <a:latin typeface="Nimbus Mono PS"/>
              </a:rPr>
              <a:t>5. Документация по </a:t>
            </a:r>
            <a:r>
              <a:rPr lang="ru-RU" sz="1400" dirty="0" err="1">
                <a:solidFill>
                  <a:srgbClr val="000000"/>
                </a:solidFill>
                <a:latin typeface="Nimbus Mono PS"/>
              </a:rPr>
              <a:t>api</a:t>
            </a:r>
            <a:r>
              <a:rPr lang="ru-RU" sz="1400" dirty="0">
                <a:solidFill>
                  <a:srgbClr val="000000"/>
                </a:solidFill>
                <a:latin typeface="Nimbus Mono PS"/>
              </a:rPr>
              <a:t> и архитектуре лежит в папке </a:t>
            </a:r>
            <a:r>
              <a:rPr lang="ru-RU" sz="1400" dirty="0" err="1">
                <a:solidFill>
                  <a:srgbClr val="000000"/>
                </a:solidFill>
                <a:latin typeface="Nimbus Mono PS"/>
              </a:rPr>
              <a:t>docs</a:t>
            </a:r>
            <a:endParaRPr lang="ru-RU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40532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tile tx="0" ty="0" sx="100000" sy="100000" algn="ctr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5A380-674E-D5F3-721A-10214CB4A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Прямоугольник: скругленные углы 57">
            <a:extLst>
              <a:ext uri="{FF2B5EF4-FFF2-40B4-BE49-F238E27FC236}">
                <a16:creationId xmlns:a16="http://schemas.microsoft.com/office/drawing/2014/main" id="{DA119615-DBA5-96E6-2897-F9FDA76471D8}"/>
              </a:ext>
            </a:extLst>
          </p:cNvPr>
          <p:cNvSpPr/>
          <p:nvPr/>
        </p:nvSpPr>
        <p:spPr>
          <a:xfrm>
            <a:off x="269280" y="359640"/>
            <a:ext cx="9450000" cy="5039640"/>
          </a:xfrm>
          <a:prstGeom prst="roundRect">
            <a:avLst>
              <a:gd name="adj" fmla="val 16667"/>
            </a:avLst>
          </a:prstGeom>
          <a:noFill/>
          <a:ln w="19080">
            <a:solidFill>
              <a:srgbClr val="1E6A39"/>
            </a:solidFill>
            <a:round/>
          </a:ln>
          <a:effectLst>
            <a:glow rad="25560">
              <a:srgbClr val="2A2E2A"/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360" tIns="54360" rIns="99360" bIns="5436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9" name="PlaceHolder 1">
            <a:extLst>
              <a:ext uri="{FF2B5EF4-FFF2-40B4-BE49-F238E27FC236}">
                <a16:creationId xmlns:a16="http://schemas.microsoft.com/office/drawing/2014/main" id="{4B1E5BB0-0847-4FD3-0AFC-283B1C306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640" y="586459"/>
            <a:ext cx="9070920" cy="4924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3200" b="1" u="none" strike="noStrike" dirty="0">
                <a:solidFill>
                  <a:srgbClr val="000000"/>
                </a:solidFill>
                <a:effectLst/>
                <a:uFillTx/>
                <a:latin typeface="Nimbus Mono PS"/>
              </a:rPr>
              <a:t>Итоговые результаты</a:t>
            </a:r>
            <a:endParaRPr lang="ru-RU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1B9902AA-027E-C0A5-E479-40B337442D46}"/>
              </a:ext>
            </a:extLst>
          </p:cNvPr>
          <p:cNvSpPr/>
          <p:nvPr/>
        </p:nvSpPr>
        <p:spPr>
          <a:xfrm>
            <a:off x="468720" y="1260000"/>
            <a:ext cx="9070920" cy="24006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Font typeface="+mj-lt"/>
              <a:buAutoNum type="arabicPeriod"/>
            </a:pPr>
            <a:r>
              <a:rPr lang="ru-RU" sz="1400" dirty="0">
                <a:solidFill>
                  <a:srgbClr val="000000"/>
                </a:solidFill>
                <a:latin typeface="Nimbus Mono PS"/>
              </a:rPr>
              <a:t>Сделано демонстрационное приложение для демонстрации работы </a:t>
            </a:r>
            <a:r>
              <a:rPr lang="ru-RU" sz="1400" dirty="0" err="1">
                <a:solidFill>
                  <a:srgbClr val="000000"/>
                </a:solidFill>
                <a:latin typeface="Nimbus Mono PS"/>
              </a:rPr>
              <a:t>гистограмматора</a:t>
            </a:r>
            <a:r>
              <a:rPr lang="ru-RU" sz="1400" dirty="0">
                <a:solidFill>
                  <a:srgbClr val="000000"/>
                </a:solidFill>
                <a:latin typeface="Nimbus Mono PS"/>
              </a:rPr>
              <a:t> потоковых данных для трехмерной целочисленной гистограммы. Приложение отображает данные в виде трёхмерного интерактивного</a:t>
            </a:r>
          </a:p>
          <a:p>
            <a:pPr marL="342900" indent="-3429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Font typeface="+mj-lt"/>
              <a:buAutoNum type="arabicPeriod"/>
            </a:pPr>
            <a:r>
              <a:rPr lang="ru-RU" sz="1400" dirty="0">
                <a:solidFill>
                  <a:srgbClr val="000000"/>
                </a:solidFill>
                <a:latin typeface="Nimbus Mono PS"/>
              </a:rPr>
              <a:t>Сделан функционал параллельного расчёта матрицы ковариации (только текстовое отображение)</a:t>
            </a:r>
          </a:p>
          <a:p>
            <a:pPr marL="342900" indent="-342900">
              <a:spcBef>
                <a:spcPts val="283"/>
              </a:spcBef>
              <a:spcAft>
                <a:spcPts val="283"/>
              </a:spcAft>
              <a:buFont typeface="+mj-lt"/>
              <a:buAutoNum type="arabicPeriod"/>
            </a:pPr>
            <a:r>
              <a:rPr lang="ru-RU" sz="1400" dirty="0">
                <a:solidFill>
                  <a:srgbClr val="000000"/>
                </a:solidFill>
                <a:latin typeface="Nimbus Mono PS"/>
              </a:rPr>
              <a:t>Сделан функционал параллельного расчёта среднего значения</a:t>
            </a:r>
            <a:r>
              <a:rPr lang="en-US" sz="1400" dirty="0">
                <a:solidFill>
                  <a:srgbClr val="000000"/>
                </a:solidFill>
                <a:latin typeface="Nimbus Mono PS"/>
              </a:rPr>
              <a:t> </a:t>
            </a:r>
            <a:r>
              <a:rPr lang="ru-RU" sz="1400" dirty="0">
                <a:solidFill>
                  <a:srgbClr val="000000"/>
                </a:solidFill>
                <a:latin typeface="Nimbus Mono PS"/>
              </a:rPr>
              <a:t>гистограммы (только текстовое отображение)</a:t>
            </a:r>
          </a:p>
          <a:p>
            <a:pPr marL="342900" indent="-3429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Font typeface="+mj-lt"/>
              <a:buAutoNum type="arabicPeriod"/>
            </a:pPr>
            <a:r>
              <a:rPr lang="ru-RU" sz="1400" dirty="0">
                <a:solidFill>
                  <a:srgbClr val="000000"/>
                </a:solidFill>
                <a:latin typeface="Nimbus Mono PS"/>
              </a:rPr>
              <a:t>Сделан функционал автоматического определения количества </a:t>
            </a:r>
            <a:r>
              <a:rPr lang="ru-RU" sz="1400" dirty="0" err="1">
                <a:solidFill>
                  <a:srgbClr val="000000"/>
                </a:solidFill>
                <a:latin typeface="Nimbus Mono PS"/>
              </a:rPr>
              <a:t>бинов</a:t>
            </a:r>
            <a:r>
              <a:rPr lang="ru-RU" sz="1400" dirty="0">
                <a:solidFill>
                  <a:srgbClr val="000000"/>
                </a:solidFill>
                <a:latin typeface="Nimbus Mono PS"/>
              </a:rPr>
              <a:t> в одномерной гистограмме</a:t>
            </a:r>
          </a:p>
          <a:p>
            <a:pPr marL="342900" indent="-3429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Font typeface="+mj-lt"/>
              <a:buAutoNum type="arabicPeriod"/>
            </a:pPr>
            <a:r>
              <a:rPr lang="ru-RU" sz="1400" dirty="0">
                <a:solidFill>
                  <a:srgbClr val="000000"/>
                </a:solidFill>
                <a:latin typeface="Nimbus Mono PS"/>
              </a:rPr>
              <a:t>Записано демонстрационное видео, которое можно скачать по ссылке: </a:t>
            </a:r>
            <a:br>
              <a:rPr lang="ru-RU" sz="1400" dirty="0">
                <a:solidFill>
                  <a:srgbClr val="000000"/>
                </a:solidFill>
                <a:latin typeface="Nimbus Mono PS"/>
              </a:rPr>
            </a:br>
            <a:r>
              <a:rPr lang="ru-RU" sz="1400" dirty="0">
                <a:solidFill>
                  <a:srgbClr val="000000"/>
                </a:solidFill>
                <a:latin typeface="Nimbus Mono PS"/>
                <a:hlinkClick r:id="rId3"/>
              </a:rPr>
              <a:t>https://disk.yandex.ru/i/9Ri_aM3zx-cmfg</a:t>
            </a:r>
            <a:r>
              <a:rPr lang="ru-RU" sz="1400" dirty="0">
                <a:solidFill>
                  <a:srgbClr val="000000"/>
                </a:solidFill>
                <a:latin typeface="Nimbus Mono PS"/>
              </a:rPr>
              <a:t> (144МБ)</a:t>
            </a:r>
          </a:p>
          <a:p>
            <a:pPr marL="342900" indent="-3429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Font typeface="+mj-lt"/>
              <a:buAutoNum type="arabicPeriod"/>
            </a:pPr>
            <a:r>
              <a:rPr lang="ru-RU" sz="1400" dirty="0">
                <a:solidFill>
                  <a:srgbClr val="000000"/>
                </a:solidFill>
                <a:latin typeface="Nimbus Mono PS"/>
              </a:rPr>
              <a:t>Код выложен на </a:t>
            </a:r>
            <a:r>
              <a:rPr lang="ru-RU" sz="1400" dirty="0" err="1">
                <a:solidFill>
                  <a:srgbClr val="000000"/>
                </a:solidFill>
                <a:latin typeface="Nimbus Mono PS"/>
              </a:rPr>
              <a:t>github</a:t>
            </a:r>
            <a:r>
              <a:rPr lang="ru-RU" sz="1400" dirty="0">
                <a:solidFill>
                  <a:srgbClr val="000000"/>
                </a:solidFill>
                <a:latin typeface="Nimbus Mono PS"/>
              </a:rPr>
              <a:t>. С ним можно ознакомиться по ссылке: </a:t>
            </a:r>
            <a:r>
              <a:rPr lang="ru-RU" sz="1400" dirty="0">
                <a:solidFill>
                  <a:srgbClr val="000000"/>
                </a:solidFill>
                <a:latin typeface="Nimbus Mono PS"/>
                <a:hlinkClick r:id="rId4"/>
              </a:rPr>
              <a:t>https://github.com/Gurikin/flow-histogram</a:t>
            </a:r>
            <a:endParaRPr lang="ru-RU" sz="1400" dirty="0">
              <a:solidFill>
                <a:srgbClr val="000000"/>
              </a:solidFill>
              <a:latin typeface="Nimbus Mono PS"/>
            </a:endParaRPr>
          </a:p>
          <a:p>
            <a:pPr marL="342900" indent="-3429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Font typeface="+mj-lt"/>
              <a:buAutoNum type="arabicPeriod"/>
            </a:pPr>
            <a:r>
              <a:rPr lang="ru-RU" sz="1400" dirty="0">
                <a:solidFill>
                  <a:srgbClr val="000000"/>
                </a:solidFill>
                <a:latin typeface="Nimbus Mono PS"/>
              </a:rPr>
              <a:t>Документация по </a:t>
            </a:r>
            <a:r>
              <a:rPr lang="ru-RU" sz="1400" dirty="0" err="1">
                <a:solidFill>
                  <a:srgbClr val="000000"/>
                </a:solidFill>
                <a:latin typeface="Nimbus Mono PS"/>
              </a:rPr>
              <a:t>api</a:t>
            </a:r>
            <a:r>
              <a:rPr lang="ru-RU" sz="1400" dirty="0">
                <a:solidFill>
                  <a:srgbClr val="000000"/>
                </a:solidFill>
                <a:latin typeface="Nimbus Mono PS"/>
              </a:rPr>
              <a:t> и архитектуре лежит в папке </a:t>
            </a:r>
            <a:r>
              <a:rPr lang="ru-RU" sz="1400" dirty="0" err="1">
                <a:solidFill>
                  <a:srgbClr val="000000"/>
                </a:solidFill>
                <a:latin typeface="Nimbus Mono PS"/>
              </a:rPr>
              <a:t>docs</a:t>
            </a:r>
            <a:endParaRPr lang="ru-RU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0723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</TotalTime>
  <Words>896</Words>
  <Application>Microsoft Office PowerPoint</Application>
  <PresentationFormat>Произвольный</PresentationFormat>
  <Paragraphs>88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Nimbus Mono PS</vt:lpstr>
      <vt:lpstr>OpenSymbol</vt:lpstr>
      <vt:lpstr>Symbol</vt:lpstr>
      <vt:lpstr>Times New Roman</vt:lpstr>
      <vt:lpstr>Wingdings</vt:lpstr>
      <vt:lpstr>Office</vt:lpstr>
      <vt:lpstr>Проектная работа</vt:lpstr>
      <vt:lpstr>Функциональные требования</vt:lpstr>
      <vt:lpstr>Нефункциональные требования</vt:lpstr>
      <vt:lpstr>Опциональные требования</vt:lpstr>
      <vt:lpstr>Определение</vt:lpstr>
      <vt:lpstr>Решаемые в работе проблемы</vt:lpstr>
      <vt:lpstr>Предлагаемое решение</vt:lpstr>
      <vt:lpstr>Алгоритм построения чанка</vt:lpstr>
      <vt:lpstr>Алгоритм построения гистограммы</vt:lpstr>
      <vt:lpstr>Алгоритм определения количества бинов</vt:lpstr>
      <vt:lpstr>Анализ исходников</vt:lpstr>
      <vt:lpstr>Замечания с первой презентации</vt:lpstr>
      <vt:lpstr>Результаты промежуточного этапа</vt:lpstr>
      <vt:lpstr>Итоговые результаты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Игорь Банчиков</cp:lastModifiedBy>
  <cp:revision>58</cp:revision>
  <dcterms:created xsi:type="dcterms:W3CDTF">2026-02-28T13:45:06Z</dcterms:created>
  <dcterms:modified xsi:type="dcterms:W3CDTF">2026-06-14T17:24:06Z</dcterms:modified>
  <dc:language>ru-RU</dc:language>
</cp:coreProperties>
</file>